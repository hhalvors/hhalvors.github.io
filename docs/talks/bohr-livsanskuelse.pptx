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68" r:id="rId4"/>
    <p:sldId id="262" r:id="rId5"/>
    <p:sldId id="257" r:id="rId6"/>
    <p:sldId id="267" r:id="rId7"/>
    <p:sldId id="264" r:id="rId8"/>
    <p:sldId id="276" r:id="rId9"/>
    <p:sldId id="273" r:id="rId10"/>
    <p:sldId id="260" r:id="rId11"/>
    <p:sldId id="258" r:id="rId12"/>
    <p:sldId id="270" r:id="rId13"/>
    <p:sldId id="272" r:id="rId14"/>
    <p:sldId id="266" r:id="rId15"/>
    <p:sldId id="269" r:id="rId16"/>
    <p:sldId id="259" r:id="rId17"/>
    <p:sldId id="26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8"/>
    <p:restoredTop sz="94661"/>
  </p:normalViewPr>
  <p:slideViewPr>
    <p:cSldViewPr snapToGrid="0">
      <p:cViewPr varScale="1">
        <p:scale>
          <a:sx n="126" d="100"/>
          <a:sy n="126" d="100"/>
        </p:scale>
        <p:origin x="232"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191EC-C938-A191-DB62-7754F100EF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D8425A-CA18-0D56-4E0D-4518E1E9EE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78F4F5-B32A-D0EE-B6FC-23057E18DBC4}"/>
              </a:ext>
            </a:extLst>
          </p:cNvPr>
          <p:cNvSpPr>
            <a:spLocks noGrp="1"/>
          </p:cNvSpPr>
          <p:nvPr>
            <p:ph type="dt" sz="half" idx="10"/>
          </p:nvPr>
        </p:nvSpPr>
        <p:spPr/>
        <p:txBody>
          <a:bodyPr/>
          <a:lstStyle/>
          <a:p>
            <a:fld id="{775904C1-B066-C340-AFB5-8386557354FE}" type="datetimeFigureOut">
              <a:rPr lang="en-US" smtClean="0"/>
              <a:t>8/8/23</a:t>
            </a:fld>
            <a:endParaRPr lang="en-US"/>
          </a:p>
        </p:txBody>
      </p:sp>
      <p:sp>
        <p:nvSpPr>
          <p:cNvPr id="5" name="Footer Placeholder 4">
            <a:extLst>
              <a:ext uri="{FF2B5EF4-FFF2-40B4-BE49-F238E27FC236}">
                <a16:creationId xmlns:a16="http://schemas.microsoft.com/office/drawing/2014/main" id="{6A9551C3-BA7B-91C7-BA45-BDF7615F16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654822-08EA-A8EB-D455-39B2271578AD}"/>
              </a:ext>
            </a:extLst>
          </p:cNvPr>
          <p:cNvSpPr>
            <a:spLocks noGrp="1"/>
          </p:cNvSpPr>
          <p:nvPr>
            <p:ph type="sldNum" sz="quarter" idx="12"/>
          </p:nvPr>
        </p:nvSpPr>
        <p:spPr/>
        <p:txBody>
          <a:bodyPr/>
          <a:lstStyle/>
          <a:p>
            <a:fld id="{ABC79BCD-1933-844A-98FF-4642DD41E31C}" type="slidenum">
              <a:rPr lang="en-US" smtClean="0"/>
              <a:t>‹#›</a:t>
            </a:fld>
            <a:endParaRPr lang="en-US"/>
          </a:p>
        </p:txBody>
      </p:sp>
    </p:spTree>
    <p:extLst>
      <p:ext uri="{BB962C8B-B14F-4D97-AF65-F5344CB8AC3E}">
        <p14:creationId xmlns:p14="http://schemas.microsoft.com/office/powerpoint/2010/main" val="1919925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62695-8D76-3BC6-3415-B35C35A6A0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B75C1D-170F-00B2-6F56-87861E8B9D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D5C844-F6F1-AA23-641F-9A56F8249FCC}"/>
              </a:ext>
            </a:extLst>
          </p:cNvPr>
          <p:cNvSpPr>
            <a:spLocks noGrp="1"/>
          </p:cNvSpPr>
          <p:nvPr>
            <p:ph type="dt" sz="half" idx="10"/>
          </p:nvPr>
        </p:nvSpPr>
        <p:spPr/>
        <p:txBody>
          <a:bodyPr/>
          <a:lstStyle/>
          <a:p>
            <a:fld id="{775904C1-B066-C340-AFB5-8386557354FE}" type="datetimeFigureOut">
              <a:rPr lang="en-US" smtClean="0"/>
              <a:t>8/8/23</a:t>
            </a:fld>
            <a:endParaRPr lang="en-US"/>
          </a:p>
        </p:txBody>
      </p:sp>
      <p:sp>
        <p:nvSpPr>
          <p:cNvPr id="5" name="Footer Placeholder 4">
            <a:extLst>
              <a:ext uri="{FF2B5EF4-FFF2-40B4-BE49-F238E27FC236}">
                <a16:creationId xmlns:a16="http://schemas.microsoft.com/office/drawing/2014/main" id="{BDFE2A79-5AEC-CD1E-3ED0-7F8407AB0B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7E3334-FD18-FA4C-10C2-7A8A6C27E84A}"/>
              </a:ext>
            </a:extLst>
          </p:cNvPr>
          <p:cNvSpPr>
            <a:spLocks noGrp="1"/>
          </p:cNvSpPr>
          <p:nvPr>
            <p:ph type="sldNum" sz="quarter" idx="12"/>
          </p:nvPr>
        </p:nvSpPr>
        <p:spPr/>
        <p:txBody>
          <a:bodyPr/>
          <a:lstStyle/>
          <a:p>
            <a:fld id="{ABC79BCD-1933-844A-98FF-4642DD41E31C}" type="slidenum">
              <a:rPr lang="en-US" smtClean="0"/>
              <a:t>‹#›</a:t>
            </a:fld>
            <a:endParaRPr lang="en-US"/>
          </a:p>
        </p:txBody>
      </p:sp>
    </p:spTree>
    <p:extLst>
      <p:ext uri="{BB962C8B-B14F-4D97-AF65-F5344CB8AC3E}">
        <p14:creationId xmlns:p14="http://schemas.microsoft.com/office/powerpoint/2010/main" val="2947154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0A2F6-3CB8-E98B-3E3B-B1614CAF49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61580F7-31C4-EB54-AC8B-20417C6F22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BF1442-A365-E0B9-3773-DCC968E3DF22}"/>
              </a:ext>
            </a:extLst>
          </p:cNvPr>
          <p:cNvSpPr>
            <a:spLocks noGrp="1"/>
          </p:cNvSpPr>
          <p:nvPr>
            <p:ph type="dt" sz="half" idx="10"/>
          </p:nvPr>
        </p:nvSpPr>
        <p:spPr/>
        <p:txBody>
          <a:bodyPr/>
          <a:lstStyle/>
          <a:p>
            <a:fld id="{775904C1-B066-C340-AFB5-8386557354FE}" type="datetimeFigureOut">
              <a:rPr lang="en-US" smtClean="0"/>
              <a:t>8/8/23</a:t>
            </a:fld>
            <a:endParaRPr lang="en-US"/>
          </a:p>
        </p:txBody>
      </p:sp>
      <p:sp>
        <p:nvSpPr>
          <p:cNvPr id="5" name="Footer Placeholder 4">
            <a:extLst>
              <a:ext uri="{FF2B5EF4-FFF2-40B4-BE49-F238E27FC236}">
                <a16:creationId xmlns:a16="http://schemas.microsoft.com/office/drawing/2014/main" id="{92596F09-D627-4EF5-F475-1C9A82BE2B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0F921C-C7A3-0A84-4663-510CB10E5F75}"/>
              </a:ext>
            </a:extLst>
          </p:cNvPr>
          <p:cNvSpPr>
            <a:spLocks noGrp="1"/>
          </p:cNvSpPr>
          <p:nvPr>
            <p:ph type="sldNum" sz="quarter" idx="12"/>
          </p:nvPr>
        </p:nvSpPr>
        <p:spPr/>
        <p:txBody>
          <a:bodyPr/>
          <a:lstStyle/>
          <a:p>
            <a:fld id="{ABC79BCD-1933-844A-98FF-4642DD41E31C}" type="slidenum">
              <a:rPr lang="en-US" smtClean="0"/>
              <a:t>‹#›</a:t>
            </a:fld>
            <a:endParaRPr lang="en-US"/>
          </a:p>
        </p:txBody>
      </p:sp>
    </p:spTree>
    <p:extLst>
      <p:ext uri="{BB962C8B-B14F-4D97-AF65-F5344CB8AC3E}">
        <p14:creationId xmlns:p14="http://schemas.microsoft.com/office/powerpoint/2010/main" val="2054449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E855B-9B87-2D75-B25C-D0D950B105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562E5E-B2F5-5D3E-3AD5-6A5D92C97A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73FD97-671B-9B01-2FFF-8544062E56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8E13C4-3420-9073-3CB9-B356ECD847A1}"/>
              </a:ext>
            </a:extLst>
          </p:cNvPr>
          <p:cNvSpPr>
            <a:spLocks noGrp="1"/>
          </p:cNvSpPr>
          <p:nvPr>
            <p:ph type="dt" sz="half" idx="10"/>
          </p:nvPr>
        </p:nvSpPr>
        <p:spPr/>
        <p:txBody>
          <a:bodyPr/>
          <a:lstStyle/>
          <a:p>
            <a:fld id="{775904C1-B066-C340-AFB5-8386557354FE}" type="datetimeFigureOut">
              <a:rPr lang="en-US" smtClean="0"/>
              <a:t>8/8/23</a:t>
            </a:fld>
            <a:endParaRPr lang="en-US"/>
          </a:p>
        </p:txBody>
      </p:sp>
      <p:sp>
        <p:nvSpPr>
          <p:cNvPr id="6" name="Footer Placeholder 5">
            <a:extLst>
              <a:ext uri="{FF2B5EF4-FFF2-40B4-BE49-F238E27FC236}">
                <a16:creationId xmlns:a16="http://schemas.microsoft.com/office/drawing/2014/main" id="{AE5B1584-7F84-A6E5-FBA1-3CDD9572E4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0A6377-F654-2633-8F71-30B3B4E32C87}"/>
              </a:ext>
            </a:extLst>
          </p:cNvPr>
          <p:cNvSpPr>
            <a:spLocks noGrp="1"/>
          </p:cNvSpPr>
          <p:nvPr>
            <p:ph type="sldNum" sz="quarter" idx="12"/>
          </p:nvPr>
        </p:nvSpPr>
        <p:spPr/>
        <p:txBody>
          <a:bodyPr/>
          <a:lstStyle/>
          <a:p>
            <a:fld id="{ABC79BCD-1933-844A-98FF-4642DD41E31C}" type="slidenum">
              <a:rPr lang="en-US" smtClean="0"/>
              <a:t>‹#›</a:t>
            </a:fld>
            <a:endParaRPr lang="en-US"/>
          </a:p>
        </p:txBody>
      </p:sp>
    </p:spTree>
    <p:extLst>
      <p:ext uri="{BB962C8B-B14F-4D97-AF65-F5344CB8AC3E}">
        <p14:creationId xmlns:p14="http://schemas.microsoft.com/office/powerpoint/2010/main" val="492257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202BD-B167-3D1E-0D1B-8485E74143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463570-20DD-AF95-4172-61B7D7E0DD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D05817-0EF6-7E5D-6CD6-51C047BABB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C507C3-5AC7-5D1F-0037-47FAFD5981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58EB91-C58F-50D2-1082-AAC753D5BC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4E384B-694B-283B-AAA4-523EF336AA44}"/>
              </a:ext>
            </a:extLst>
          </p:cNvPr>
          <p:cNvSpPr>
            <a:spLocks noGrp="1"/>
          </p:cNvSpPr>
          <p:nvPr>
            <p:ph type="dt" sz="half" idx="10"/>
          </p:nvPr>
        </p:nvSpPr>
        <p:spPr/>
        <p:txBody>
          <a:bodyPr/>
          <a:lstStyle/>
          <a:p>
            <a:fld id="{775904C1-B066-C340-AFB5-8386557354FE}" type="datetimeFigureOut">
              <a:rPr lang="en-US" smtClean="0"/>
              <a:t>8/8/23</a:t>
            </a:fld>
            <a:endParaRPr lang="en-US"/>
          </a:p>
        </p:txBody>
      </p:sp>
      <p:sp>
        <p:nvSpPr>
          <p:cNvPr id="8" name="Footer Placeholder 7">
            <a:extLst>
              <a:ext uri="{FF2B5EF4-FFF2-40B4-BE49-F238E27FC236}">
                <a16:creationId xmlns:a16="http://schemas.microsoft.com/office/drawing/2014/main" id="{54E4EA4F-ECD8-5685-1683-A72100DD7F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6915BC-0F70-8E61-16ED-8431C95A6ACC}"/>
              </a:ext>
            </a:extLst>
          </p:cNvPr>
          <p:cNvSpPr>
            <a:spLocks noGrp="1"/>
          </p:cNvSpPr>
          <p:nvPr>
            <p:ph type="sldNum" sz="quarter" idx="12"/>
          </p:nvPr>
        </p:nvSpPr>
        <p:spPr/>
        <p:txBody>
          <a:bodyPr/>
          <a:lstStyle/>
          <a:p>
            <a:fld id="{ABC79BCD-1933-844A-98FF-4642DD41E31C}" type="slidenum">
              <a:rPr lang="en-US" smtClean="0"/>
              <a:t>‹#›</a:t>
            </a:fld>
            <a:endParaRPr lang="en-US"/>
          </a:p>
        </p:txBody>
      </p:sp>
    </p:spTree>
    <p:extLst>
      <p:ext uri="{BB962C8B-B14F-4D97-AF65-F5344CB8AC3E}">
        <p14:creationId xmlns:p14="http://schemas.microsoft.com/office/powerpoint/2010/main" val="1484865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85956-1E95-723A-D4C3-B124B59D45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064D040-A7D1-F115-DEFA-296EA73F4DC6}"/>
              </a:ext>
            </a:extLst>
          </p:cNvPr>
          <p:cNvSpPr>
            <a:spLocks noGrp="1"/>
          </p:cNvSpPr>
          <p:nvPr>
            <p:ph type="dt" sz="half" idx="10"/>
          </p:nvPr>
        </p:nvSpPr>
        <p:spPr/>
        <p:txBody>
          <a:bodyPr/>
          <a:lstStyle/>
          <a:p>
            <a:fld id="{775904C1-B066-C340-AFB5-8386557354FE}" type="datetimeFigureOut">
              <a:rPr lang="en-US" smtClean="0"/>
              <a:t>8/8/23</a:t>
            </a:fld>
            <a:endParaRPr lang="en-US"/>
          </a:p>
        </p:txBody>
      </p:sp>
      <p:sp>
        <p:nvSpPr>
          <p:cNvPr id="4" name="Footer Placeholder 3">
            <a:extLst>
              <a:ext uri="{FF2B5EF4-FFF2-40B4-BE49-F238E27FC236}">
                <a16:creationId xmlns:a16="http://schemas.microsoft.com/office/drawing/2014/main" id="{A5440DE0-F093-35D1-9145-6337EE4308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02A478-64E1-F69D-902D-F791E5CD7303}"/>
              </a:ext>
            </a:extLst>
          </p:cNvPr>
          <p:cNvSpPr>
            <a:spLocks noGrp="1"/>
          </p:cNvSpPr>
          <p:nvPr>
            <p:ph type="sldNum" sz="quarter" idx="12"/>
          </p:nvPr>
        </p:nvSpPr>
        <p:spPr/>
        <p:txBody>
          <a:bodyPr/>
          <a:lstStyle/>
          <a:p>
            <a:fld id="{ABC79BCD-1933-844A-98FF-4642DD41E31C}" type="slidenum">
              <a:rPr lang="en-US" smtClean="0"/>
              <a:t>‹#›</a:t>
            </a:fld>
            <a:endParaRPr lang="en-US"/>
          </a:p>
        </p:txBody>
      </p:sp>
    </p:spTree>
    <p:extLst>
      <p:ext uri="{BB962C8B-B14F-4D97-AF65-F5344CB8AC3E}">
        <p14:creationId xmlns:p14="http://schemas.microsoft.com/office/powerpoint/2010/main" val="4166663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148915-1C84-4D64-0BC5-50FA12D802A2}"/>
              </a:ext>
            </a:extLst>
          </p:cNvPr>
          <p:cNvSpPr>
            <a:spLocks noGrp="1"/>
          </p:cNvSpPr>
          <p:nvPr>
            <p:ph type="dt" sz="half" idx="10"/>
          </p:nvPr>
        </p:nvSpPr>
        <p:spPr/>
        <p:txBody>
          <a:bodyPr/>
          <a:lstStyle/>
          <a:p>
            <a:fld id="{775904C1-B066-C340-AFB5-8386557354FE}" type="datetimeFigureOut">
              <a:rPr lang="en-US" smtClean="0"/>
              <a:t>8/8/23</a:t>
            </a:fld>
            <a:endParaRPr lang="en-US"/>
          </a:p>
        </p:txBody>
      </p:sp>
      <p:sp>
        <p:nvSpPr>
          <p:cNvPr id="3" name="Footer Placeholder 2">
            <a:extLst>
              <a:ext uri="{FF2B5EF4-FFF2-40B4-BE49-F238E27FC236}">
                <a16:creationId xmlns:a16="http://schemas.microsoft.com/office/drawing/2014/main" id="{B8416030-7DBE-9E22-59CA-E2BBACFB39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3E480D-AA13-C276-D1EE-FF0676EDFEC6}"/>
              </a:ext>
            </a:extLst>
          </p:cNvPr>
          <p:cNvSpPr>
            <a:spLocks noGrp="1"/>
          </p:cNvSpPr>
          <p:nvPr>
            <p:ph type="sldNum" sz="quarter" idx="12"/>
          </p:nvPr>
        </p:nvSpPr>
        <p:spPr/>
        <p:txBody>
          <a:bodyPr/>
          <a:lstStyle/>
          <a:p>
            <a:fld id="{ABC79BCD-1933-844A-98FF-4642DD41E31C}" type="slidenum">
              <a:rPr lang="en-US" smtClean="0"/>
              <a:t>‹#›</a:t>
            </a:fld>
            <a:endParaRPr lang="en-US"/>
          </a:p>
        </p:txBody>
      </p:sp>
    </p:spTree>
    <p:extLst>
      <p:ext uri="{BB962C8B-B14F-4D97-AF65-F5344CB8AC3E}">
        <p14:creationId xmlns:p14="http://schemas.microsoft.com/office/powerpoint/2010/main" val="2716555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A4019-AEC2-8593-A4CF-809096C335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F98BA8-6844-99D7-25DA-E320755C9A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FEC4C6-F3B5-350D-A5AE-6A4DE6391D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F9312D-D91A-AA65-6DC8-FA0126B43497}"/>
              </a:ext>
            </a:extLst>
          </p:cNvPr>
          <p:cNvSpPr>
            <a:spLocks noGrp="1"/>
          </p:cNvSpPr>
          <p:nvPr>
            <p:ph type="dt" sz="half" idx="10"/>
          </p:nvPr>
        </p:nvSpPr>
        <p:spPr/>
        <p:txBody>
          <a:bodyPr/>
          <a:lstStyle/>
          <a:p>
            <a:fld id="{775904C1-B066-C340-AFB5-8386557354FE}" type="datetimeFigureOut">
              <a:rPr lang="en-US" smtClean="0"/>
              <a:t>8/8/23</a:t>
            </a:fld>
            <a:endParaRPr lang="en-US"/>
          </a:p>
        </p:txBody>
      </p:sp>
      <p:sp>
        <p:nvSpPr>
          <p:cNvPr id="6" name="Footer Placeholder 5">
            <a:extLst>
              <a:ext uri="{FF2B5EF4-FFF2-40B4-BE49-F238E27FC236}">
                <a16:creationId xmlns:a16="http://schemas.microsoft.com/office/drawing/2014/main" id="{452A6299-52F3-0B18-9ABD-9213B99490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07F28D-0EF6-6DB0-307D-70DCAC62D91B}"/>
              </a:ext>
            </a:extLst>
          </p:cNvPr>
          <p:cNvSpPr>
            <a:spLocks noGrp="1"/>
          </p:cNvSpPr>
          <p:nvPr>
            <p:ph type="sldNum" sz="quarter" idx="12"/>
          </p:nvPr>
        </p:nvSpPr>
        <p:spPr/>
        <p:txBody>
          <a:bodyPr/>
          <a:lstStyle/>
          <a:p>
            <a:fld id="{ABC79BCD-1933-844A-98FF-4642DD41E31C}" type="slidenum">
              <a:rPr lang="en-US" smtClean="0"/>
              <a:t>‹#›</a:t>
            </a:fld>
            <a:endParaRPr lang="en-US"/>
          </a:p>
        </p:txBody>
      </p:sp>
    </p:spTree>
    <p:extLst>
      <p:ext uri="{BB962C8B-B14F-4D97-AF65-F5344CB8AC3E}">
        <p14:creationId xmlns:p14="http://schemas.microsoft.com/office/powerpoint/2010/main" val="4258772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1C8C6-0593-2CE4-3882-65A7A10402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C1D016-6CA4-0BF4-003E-17D0769AAD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CBE6DE-91C1-E563-10B9-400BA1862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4D9F58-A9BF-F98F-DB27-BDAED4C76EE3}"/>
              </a:ext>
            </a:extLst>
          </p:cNvPr>
          <p:cNvSpPr>
            <a:spLocks noGrp="1"/>
          </p:cNvSpPr>
          <p:nvPr>
            <p:ph type="dt" sz="half" idx="10"/>
          </p:nvPr>
        </p:nvSpPr>
        <p:spPr/>
        <p:txBody>
          <a:bodyPr/>
          <a:lstStyle/>
          <a:p>
            <a:fld id="{775904C1-B066-C340-AFB5-8386557354FE}" type="datetimeFigureOut">
              <a:rPr lang="en-US" smtClean="0"/>
              <a:t>8/8/23</a:t>
            </a:fld>
            <a:endParaRPr lang="en-US"/>
          </a:p>
        </p:txBody>
      </p:sp>
      <p:sp>
        <p:nvSpPr>
          <p:cNvPr id="6" name="Footer Placeholder 5">
            <a:extLst>
              <a:ext uri="{FF2B5EF4-FFF2-40B4-BE49-F238E27FC236}">
                <a16:creationId xmlns:a16="http://schemas.microsoft.com/office/drawing/2014/main" id="{6FB79DE4-85BB-D927-F8F7-3C11AF3B06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CB1068-31C1-1C57-9B04-BB08AEEEA16E}"/>
              </a:ext>
            </a:extLst>
          </p:cNvPr>
          <p:cNvSpPr>
            <a:spLocks noGrp="1"/>
          </p:cNvSpPr>
          <p:nvPr>
            <p:ph type="sldNum" sz="quarter" idx="12"/>
          </p:nvPr>
        </p:nvSpPr>
        <p:spPr/>
        <p:txBody>
          <a:bodyPr/>
          <a:lstStyle/>
          <a:p>
            <a:fld id="{ABC79BCD-1933-844A-98FF-4642DD41E31C}" type="slidenum">
              <a:rPr lang="en-US" smtClean="0"/>
              <a:t>‹#›</a:t>
            </a:fld>
            <a:endParaRPr lang="en-US"/>
          </a:p>
        </p:txBody>
      </p:sp>
    </p:spTree>
    <p:extLst>
      <p:ext uri="{BB962C8B-B14F-4D97-AF65-F5344CB8AC3E}">
        <p14:creationId xmlns:p14="http://schemas.microsoft.com/office/powerpoint/2010/main" val="1103648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991BF-D5F7-E45E-E6AF-2CDAD30DD2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F8916F-04A8-D799-FD11-636ACFCDD3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850832-C8B2-602F-C4F7-62D9E253E903}"/>
              </a:ext>
            </a:extLst>
          </p:cNvPr>
          <p:cNvSpPr>
            <a:spLocks noGrp="1"/>
          </p:cNvSpPr>
          <p:nvPr>
            <p:ph type="dt" sz="half" idx="10"/>
          </p:nvPr>
        </p:nvSpPr>
        <p:spPr/>
        <p:txBody>
          <a:bodyPr/>
          <a:lstStyle/>
          <a:p>
            <a:fld id="{775904C1-B066-C340-AFB5-8386557354FE}" type="datetimeFigureOut">
              <a:rPr lang="en-US" smtClean="0"/>
              <a:t>8/8/23</a:t>
            </a:fld>
            <a:endParaRPr lang="en-US"/>
          </a:p>
        </p:txBody>
      </p:sp>
      <p:sp>
        <p:nvSpPr>
          <p:cNvPr id="5" name="Footer Placeholder 4">
            <a:extLst>
              <a:ext uri="{FF2B5EF4-FFF2-40B4-BE49-F238E27FC236}">
                <a16:creationId xmlns:a16="http://schemas.microsoft.com/office/drawing/2014/main" id="{4B65DD06-6533-F6B1-709F-1D64D595FA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86D3FF-0AE6-FD19-1D37-F9C6106163C2}"/>
              </a:ext>
            </a:extLst>
          </p:cNvPr>
          <p:cNvSpPr>
            <a:spLocks noGrp="1"/>
          </p:cNvSpPr>
          <p:nvPr>
            <p:ph type="sldNum" sz="quarter" idx="12"/>
          </p:nvPr>
        </p:nvSpPr>
        <p:spPr/>
        <p:txBody>
          <a:bodyPr/>
          <a:lstStyle/>
          <a:p>
            <a:fld id="{ABC79BCD-1933-844A-98FF-4642DD41E31C}" type="slidenum">
              <a:rPr lang="en-US" smtClean="0"/>
              <a:t>‹#›</a:t>
            </a:fld>
            <a:endParaRPr lang="en-US"/>
          </a:p>
        </p:txBody>
      </p:sp>
    </p:spTree>
    <p:extLst>
      <p:ext uri="{BB962C8B-B14F-4D97-AF65-F5344CB8AC3E}">
        <p14:creationId xmlns:p14="http://schemas.microsoft.com/office/powerpoint/2010/main" val="4288726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13053E-9546-15F0-0D9D-43984E3B80B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FF8959-26B4-32A3-B3D4-607F301878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B50441-E427-C75C-87E2-EF65A8BA6C19}"/>
              </a:ext>
            </a:extLst>
          </p:cNvPr>
          <p:cNvSpPr>
            <a:spLocks noGrp="1"/>
          </p:cNvSpPr>
          <p:nvPr>
            <p:ph type="dt" sz="half" idx="10"/>
          </p:nvPr>
        </p:nvSpPr>
        <p:spPr/>
        <p:txBody>
          <a:bodyPr/>
          <a:lstStyle/>
          <a:p>
            <a:fld id="{775904C1-B066-C340-AFB5-8386557354FE}" type="datetimeFigureOut">
              <a:rPr lang="en-US" smtClean="0"/>
              <a:t>8/8/23</a:t>
            </a:fld>
            <a:endParaRPr lang="en-US"/>
          </a:p>
        </p:txBody>
      </p:sp>
      <p:sp>
        <p:nvSpPr>
          <p:cNvPr id="5" name="Footer Placeholder 4">
            <a:extLst>
              <a:ext uri="{FF2B5EF4-FFF2-40B4-BE49-F238E27FC236}">
                <a16:creationId xmlns:a16="http://schemas.microsoft.com/office/drawing/2014/main" id="{08ED70D8-778C-3342-0B1C-BA82DBCC52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DADE28-7D3E-C2B9-3EB4-1E8E1E041314}"/>
              </a:ext>
            </a:extLst>
          </p:cNvPr>
          <p:cNvSpPr>
            <a:spLocks noGrp="1"/>
          </p:cNvSpPr>
          <p:nvPr>
            <p:ph type="sldNum" sz="quarter" idx="12"/>
          </p:nvPr>
        </p:nvSpPr>
        <p:spPr/>
        <p:txBody>
          <a:bodyPr/>
          <a:lstStyle/>
          <a:p>
            <a:fld id="{ABC79BCD-1933-844A-98FF-4642DD41E31C}" type="slidenum">
              <a:rPr lang="en-US" smtClean="0"/>
              <a:t>‹#›</a:t>
            </a:fld>
            <a:endParaRPr lang="en-US"/>
          </a:p>
        </p:txBody>
      </p:sp>
    </p:spTree>
    <p:extLst>
      <p:ext uri="{BB962C8B-B14F-4D97-AF65-F5344CB8AC3E}">
        <p14:creationId xmlns:p14="http://schemas.microsoft.com/office/powerpoint/2010/main" val="3779652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6FCC68-65F0-2E3A-DD7E-96E9CC2344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26FF5B-DDDB-5514-6378-F1A71DA42E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975B6B-FEC5-B274-075A-28C47C5728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5904C1-B066-C340-AFB5-8386557354FE}" type="datetimeFigureOut">
              <a:rPr lang="en-US" smtClean="0"/>
              <a:t>8/8/23</a:t>
            </a:fld>
            <a:endParaRPr lang="en-US"/>
          </a:p>
        </p:txBody>
      </p:sp>
      <p:sp>
        <p:nvSpPr>
          <p:cNvPr id="5" name="Footer Placeholder 4">
            <a:extLst>
              <a:ext uri="{FF2B5EF4-FFF2-40B4-BE49-F238E27FC236}">
                <a16:creationId xmlns:a16="http://schemas.microsoft.com/office/drawing/2014/main" id="{00760E9A-C87F-76C8-5822-D9487D7877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1E066E-535D-A913-5DAB-F7B46914E6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C79BCD-1933-844A-98FF-4642DD41E31C}" type="slidenum">
              <a:rPr lang="en-US" smtClean="0"/>
              <a:t>‹#›</a:t>
            </a:fld>
            <a:endParaRPr lang="en-US"/>
          </a:p>
        </p:txBody>
      </p:sp>
    </p:spTree>
    <p:extLst>
      <p:ext uri="{BB962C8B-B14F-4D97-AF65-F5344CB8AC3E}">
        <p14:creationId xmlns:p14="http://schemas.microsoft.com/office/powerpoint/2010/main" val="1928146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hyperlink" Target="https://www.mentefilosofica.com/2019/08/friedrich-hegel.html" TargetMode="External"/><Relationship Id="rId7" Type="http://schemas.openxmlformats.org/officeDocument/2006/relationships/hyperlink" Target="https://www.ar-arkiv.dk/?p=2322"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3.jpg"/><Relationship Id="rId11" Type="http://schemas.openxmlformats.org/officeDocument/2006/relationships/hyperlink" Target="https://open.smk.dk/en/artwork/image/KKS15868g" TargetMode="External"/><Relationship Id="rId5" Type="http://schemas.openxmlformats.org/officeDocument/2006/relationships/hyperlink" Target="https://en.wikipedia.org/wiki/S%C3%B8ren_Kierkegaard" TargetMode="External"/><Relationship Id="rId10" Type="http://schemas.openxmlformats.org/officeDocument/2006/relationships/image" Target="../media/image5.jpg"/><Relationship Id="rId4" Type="http://schemas.openxmlformats.org/officeDocument/2006/relationships/image" Target="../media/image2.jpg"/><Relationship Id="rId9" Type="http://schemas.openxmlformats.org/officeDocument/2006/relationships/hyperlink" Target="https://www.babelio.com/auteur/Harald-Hffding/358497"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8C7AC-6678-3CDB-E9A2-EBABF96C7934}"/>
              </a:ext>
            </a:extLst>
          </p:cNvPr>
          <p:cNvSpPr>
            <a:spLocks noGrp="1"/>
          </p:cNvSpPr>
          <p:nvPr>
            <p:ph type="ctrTitle"/>
          </p:nvPr>
        </p:nvSpPr>
        <p:spPr/>
        <p:txBody>
          <a:bodyPr>
            <a:normAutofit/>
          </a:bodyPr>
          <a:lstStyle/>
          <a:p>
            <a:r>
              <a:rPr lang="en-US" dirty="0"/>
              <a:t>Niels Bohr’s </a:t>
            </a:r>
            <a:r>
              <a:rPr lang="en-US" i="1" dirty="0" err="1"/>
              <a:t>Livsanskuelse</a:t>
            </a:r>
            <a:endParaRPr lang="en-US" dirty="0"/>
          </a:p>
        </p:txBody>
      </p:sp>
      <p:sp>
        <p:nvSpPr>
          <p:cNvPr id="3" name="Subtitle 2">
            <a:extLst>
              <a:ext uri="{FF2B5EF4-FFF2-40B4-BE49-F238E27FC236}">
                <a16:creationId xmlns:a16="http://schemas.microsoft.com/office/drawing/2014/main" id="{C692CAE9-CA49-228A-37F1-095E6FE602B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97666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260A2-8C04-7939-47A8-D98C499773D8}"/>
              </a:ext>
            </a:extLst>
          </p:cNvPr>
          <p:cNvSpPr>
            <a:spLocks noGrp="1"/>
          </p:cNvSpPr>
          <p:nvPr>
            <p:ph type="title"/>
          </p:nvPr>
        </p:nvSpPr>
        <p:spPr/>
        <p:txBody>
          <a:bodyPr/>
          <a:lstStyle/>
          <a:p>
            <a:r>
              <a:rPr lang="en-US" dirty="0"/>
              <a:t>Defensive</a:t>
            </a:r>
          </a:p>
        </p:txBody>
      </p:sp>
      <p:sp>
        <p:nvSpPr>
          <p:cNvPr id="3" name="Content Placeholder 2">
            <a:extLst>
              <a:ext uri="{FF2B5EF4-FFF2-40B4-BE49-F238E27FC236}">
                <a16:creationId xmlns:a16="http://schemas.microsoft.com/office/drawing/2014/main" id="{33EE15A5-E278-BA8E-925E-3783130B16F5}"/>
              </a:ext>
            </a:extLst>
          </p:cNvPr>
          <p:cNvSpPr>
            <a:spLocks noGrp="1"/>
          </p:cNvSpPr>
          <p:nvPr>
            <p:ph idx="1"/>
          </p:nvPr>
        </p:nvSpPr>
        <p:spPr/>
        <p:txBody>
          <a:bodyPr>
            <a:normAutofit/>
          </a:bodyPr>
          <a:lstStyle/>
          <a:p>
            <a:pPr marL="0" indent="0">
              <a:lnSpc>
                <a:spcPct val="100000"/>
              </a:lnSpc>
              <a:spcBef>
                <a:spcPts val="900"/>
              </a:spcBef>
              <a:spcAft>
                <a:spcPts val="900"/>
              </a:spcAft>
              <a:buNone/>
            </a:pPr>
            <a:r>
              <a:rPr lang="en-US" dirty="0">
                <a:ea typeface="Calibri" panose="020F0502020204030204" pitchFamily="34" charset="0"/>
                <a:cs typeface="Times New Roman" panose="02020603050405020304" pitchFamily="18" charset="0"/>
              </a:rPr>
              <a:t>”</a:t>
            </a:r>
            <a:r>
              <a:rPr lang="en-US" dirty="0">
                <a:effectLst/>
                <a:ea typeface="Calibri" panose="020F0502020204030204" pitchFamily="34" charset="0"/>
                <a:cs typeface="Times New Roman" panose="02020603050405020304" pitchFamily="18" charset="0"/>
              </a:rPr>
              <a:t>Without doubt, Bohr’s philosophical views have shaped the way generations of physicists think about quantum mechanics, but they have also, in the eyes of an increasing number, </a:t>
            </a:r>
            <a:r>
              <a:rPr lang="en-US" u="sng" dirty="0">
                <a:effectLst/>
                <a:ea typeface="Calibri" panose="020F0502020204030204" pitchFamily="34" charset="0"/>
                <a:cs typeface="Times New Roman" panose="02020603050405020304" pitchFamily="18" charset="0"/>
              </a:rPr>
              <a:t>discouraged and stifled progress</a:t>
            </a:r>
            <a:r>
              <a:rPr lang="en-US" dirty="0">
                <a:effectLst/>
                <a:ea typeface="Calibri" panose="020F0502020204030204" pitchFamily="34" charset="0"/>
                <a:cs typeface="Times New Roman" panose="02020603050405020304" pitchFamily="18" charset="0"/>
              </a:rPr>
              <a:t>.” Jim Al-Khalili, </a:t>
            </a:r>
            <a:r>
              <a:rPr lang="en-US" i="1" dirty="0">
                <a:effectLst/>
                <a:ea typeface="Calibri" panose="020F0502020204030204" pitchFamily="34" charset="0"/>
                <a:cs typeface="Times New Roman" panose="02020603050405020304" pitchFamily="18" charset="0"/>
              </a:rPr>
              <a:t>The World According to Physics</a:t>
            </a:r>
          </a:p>
        </p:txBody>
      </p:sp>
    </p:spTree>
    <p:extLst>
      <p:ext uri="{BB962C8B-B14F-4D97-AF65-F5344CB8AC3E}">
        <p14:creationId xmlns:p14="http://schemas.microsoft.com/office/powerpoint/2010/main" val="3306631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260A2-8C04-7939-47A8-D98C499773D8}"/>
              </a:ext>
            </a:extLst>
          </p:cNvPr>
          <p:cNvSpPr>
            <a:spLocks noGrp="1"/>
          </p:cNvSpPr>
          <p:nvPr>
            <p:ph type="title"/>
          </p:nvPr>
        </p:nvSpPr>
        <p:spPr/>
        <p:txBody>
          <a:bodyPr/>
          <a:lstStyle/>
          <a:p>
            <a:r>
              <a:rPr lang="en-US" dirty="0"/>
              <a:t>Defensive</a:t>
            </a:r>
          </a:p>
        </p:txBody>
      </p:sp>
      <p:sp>
        <p:nvSpPr>
          <p:cNvPr id="3" name="Content Placeholder 2">
            <a:extLst>
              <a:ext uri="{FF2B5EF4-FFF2-40B4-BE49-F238E27FC236}">
                <a16:creationId xmlns:a16="http://schemas.microsoft.com/office/drawing/2014/main" id="{33EE15A5-E278-BA8E-925E-3783130B16F5}"/>
              </a:ext>
            </a:extLst>
          </p:cNvPr>
          <p:cNvSpPr>
            <a:spLocks noGrp="1"/>
          </p:cNvSpPr>
          <p:nvPr>
            <p:ph idx="1"/>
          </p:nvPr>
        </p:nvSpPr>
        <p:spPr/>
        <p:txBody>
          <a:bodyPr>
            <a:normAutofit/>
          </a:bodyPr>
          <a:lstStyle/>
          <a:p>
            <a:pPr marL="0" indent="0">
              <a:lnSpc>
                <a:spcPct val="100000"/>
              </a:lnSpc>
              <a:spcBef>
                <a:spcPts val="900"/>
              </a:spcBef>
              <a:spcAft>
                <a:spcPts val="900"/>
              </a:spcAft>
              <a:buNone/>
            </a:pPr>
            <a:r>
              <a:rPr lang="en-US" dirty="0">
                <a:effectLst/>
                <a:ea typeface="Calibri" panose="020F0502020204030204" pitchFamily="34" charset="0"/>
                <a:cs typeface="Times New Roman" panose="02020603050405020304" pitchFamily="18" charset="0"/>
              </a:rPr>
              <a:t>”And so there is this philosophy [i.e. Bohr’s], which was designed to reconcile people to the muddle; You shouldn't strive for clarity — that’s naive. “Muddle is sophisticated.” I have heard distinguished people say that this philosophy was important to them as physicists. It allowed them to feel somehow that these things were understood and that nothing could be done except what they were doing. Then they got on with their work</a:t>
            </a:r>
            <a:r>
              <a:rPr lang="en-US" dirty="0">
                <a:ea typeface="Calibri" panose="020F0502020204030204" pitchFamily="34" charset="0"/>
                <a:cs typeface="Times New Roman" panose="02020603050405020304" pitchFamily="18" charset="0"/>
              </a:rPr>
              <a:t>.” (John Bell)</a:t>
            </a:r>
            <a:endParaRPr lang="en-US" dirty="0"/>
          </a:p>
        </p:txBody>
      </p:sp>
    </p:spTree>
    <p:extLst>
      <p:ext uri="{BB962C8B-B14F-4D97-AF65-F5344CB8AC3E}">
        <p14:creationId xmlns:p14="http://schemas.microsoft.com/office/powerpoint/2010/main" val="3653711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3D10E-C357-FECD-E679-13773FE5C809}"/>
              </a:ext>
            </a:extLst>
          </p:cNvPr>
          <p:cNvSpPr>
            <a:spLocks noGrp="1"/>
          </p:cNvSpPr>
          <p:nvPr>
            <p:ph type="title"/>
          </p:nvPr>
        </p:nvSpPr>
        <p:spPr/>
        <p:txBody>
          <a:bodyPr/>
          <a:lstStyle/>
          <a:p>
            <a:r>
              <a:rPr lang="en-US" dirty="0"/>
              <a:t>Offensive</a:t>
            </a:r>
          </a:p>
        </p:txBody>
      </p:sp>
      <p:sp>
        <p:nvSpPr>
          <p:cNvPr id="3" name="Content Placeholder 2">
            <a:extLst>
              <a:ext uri="{FF2B5EF4-FFF2-40B4-BE49-F238E27FC236}">
                <a16:creationId xmlns:a16="http://schemas.microsoft.com/office/drawing/2014/main" id="{B41A0D3E-5066-E4B8-795A-7A111D9ECE2D}"/>
              </a:ext>
            </a:extLst>
          </p:cNvPr>
          <p:cNvSpPr>
            <a:spLocks noGrp="1"/>
          </p:cNvSpPr>
          <p:nvPr>
            <p:ph idx="1"/>
          </p:nvPr>
        </p:nvSpPr>
        <p:spPr/>
        <p:txBody>
          <a:bodyPr/>
          <a:lstStyle/>
          <a:p>
            <a:r>
              <a:rPr lang="en-US" dirty="0"/>
              <a:t>Closing the gap between history and contemporary practice in physics</a:t>
            </a:r>
          </a:p>
          <a:p>
            <a:pPr marL="0" indent="0">
              <a:buNone/>
            </a:pPr>
            <a:endParaRPr lang="en-US" dirty="0"/>
          </a:p>
          <a:p>
            <a:pPr marL="0" indent="0">
              <a:buNone/>
            </a:pPr>
            <a:endParaRPr lang="en-US" dirty="0"/>
          </a:p>
          <a:p>
            <a:pPr marL="0" indent="0">
              <a:buNone/>
            </a:pPr>
            <a:endParaRPr lang="en-US" dirty="0"/>
          </a:p>
          <a:p>
            <a:r>
              <a:rPr lang="en-US" dirty="0"/>
              <a:t>Closing the gap between the humanities and science</a:t>
            </a:r>
          </a:p>
          <a:p>
            <a:pPr lvl="1"/>
            <a:r>
              <a:rPr lang="en-US" dirty="0"/>
              <a:t>Conceptual understanding in physics</a:t>
            </a:r>
          </a:p>
          <a:p>
            <a:pPr lvl="1"/>
            <a:r>
              <a:rPr lang="en-US" dirty="0"/>
              <a:t>Deep humanities roots grow stronger scientists</a:t>
            </a:r>
          </a:p>
        </p:txBody>
      </p:sp>
    </p:spTree>
    <p:extLst>
      <p:ext uri="{BB962C8B-B14F-4D97-AF65-F5344CB8AC3E}">
        <p14:creationId xmlns:p14="http://schemas.microsoft.com/office/powerpoint/2010/main" val="12040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3D9A5-02E4-DF21-B119-CC7D72262F2E}"/>
              </a:ext>
            </a:extLst>
          </p:cNvPr>
          <p:cNvSpPr>
            <a:spLocks noGrp="1"/>
          </p:cNvSpPr>
          <p:nvPr>
            <p:ph type="title"/>
          </p:nvPr>
        </p:nvSpPr>
        <p:spPr/>
        <p:txBody>
          <a:bodyPr/>
          <a:lstStyle/>
          <a:p>
            <a:r>
              <a:rPr lang="en-US" dirty="0"/>
              <a:t>Wanted: A worldview adequate to life in science</a:t>
            </a:r>
          </a:p>
        </p:txBody>
      </p:sp>
      <p:sp>
        <p:nvSpPr>
          <p:cNvPr id="3" name="Content Placeholder 2">
            <a:extLst>
              <a:ext uri="{FF2B5EF4-FFF2-40B4-BE49-F238E27FC236}">
                <a16:creationId xmlns:a16="http://schemas.microsoft.com/office/drawing/2014/main" id="{C749DF04-381D-F6A9-4DAF-C9821A0A10DF}"/>
              </a:ext>
            </a:extLst>
          </p:cNvPr>
          <p:cNvSpPr>
            <a:spLocks noGrp="1"/>
          </p:cNvSpPr>
          <p:nvPr>
            <p:ph idx="1"/>
          </p:nvPr>
        </p:nvSpPr>
        <p:spPr/>
        <p:txBody>
          <a:bodyPr/>
          <a:lstStyle/>
          <a:p>
            <a:r>
              <a:rPr lang="en-US" dirty="0"/>
              <a:t>Lack of philosophical sophistication in postwar (US centric) physics</a:t>
            </a:r>
          </a:p>
          <a:p>
            <a:r>
              <a:rPr lang="en-US" dirty="0"/>
              <a:t>Polarization</a:t>
            </a:r>
          </a:p>
          <a:p>
            <a:pPr lvl="1"/>
            <a:r>
              <a:rPr lang="en-US" dirty="0"/>
              <a:t>Realism versus Antirealism</a:t>
            </a:r>
          </a:p>
          <a:p>
            <a:pPr lvl="1"/>
            <a:r>
              <a:rPr lang="en-US" dirty="0"/>
              <a:t>Objectivism versus Subjectivism</a:t>
            </a:r>
          </a:p>
          <a:p>
            <a:pPr lvl="1"/>
            <a:r>
              <a:rPr lang="en-US" dirty="0"/>
              <a:t>Science versus Humanities [educational polarization]</a:t>
            </a:r>
          </a:p>
        </p:txBody>
      </p:sp>
    </p:spTree>
    <p:extLst>
      <p:ext uri="{BB962C8B-B14F-4D97-AF65-F5344CB8AC3E}">
        <p14:creationId xmlns:p14="http://schemas.microsoft.com/office/powerpoint/2010/main" val="2337617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F6DD8-C5A0-C702-72E1-6470CAE3403A}"/>
              </a:ext>
            </a:extLst>
          </p:cNvPr>
          <p:cNvSpPr>
            <a:spLocks noGrp="1"/>
          </p:cNvSpPr>
          <p:nvPr>
            <p:ph type="title"/>
          </p:nvPr>
        </p:nvSpPr>
        <p:spPr/>
        <p:txBody>
          <a:bodyPr/>
          <a:lstStyle/>
          <a:p>
            <a:r>
              <a:rPr lang="en-US" dirty="0"/>
              <a:t>What made Bohr tick (as a scientist)?</a:t>
            </a:r>
          </a:p>
        </p:txBody>
      </p:sp>
      <p:sp>
        <p:nvSpPr>
          <p:cNvPr id="3" name="Content Placeholder 2">
            <a:extLst>
              <a:ext uri="{FF2B5EF4-FFF2-40B4-BE49-F238E27FC236}">
                <a16:creationId xmlns:a16="http://schemas.microsoft.com/office/drawing/2014/main" id="{506333B9-4059-0197-08B4-7D183C54C9EC}"/>
              </a:ext>
            </a:extLst>
          </p:cNvPr>
          <p:cNvSpPr>
            <a:spLocks noGrp="1"/>
          </p:cNvSpPr>
          <p:nvPr>
            <p:ph idx="1"/>
          </p:nvPr>
        </p:nvSpPr>
        <p:spPr/>
        <p:txBody>
          <a:bodyPr/>
          <a:lstStyle/>
          <a:p>
            <a:r>
              <a:rPr lang="en-US" dirty="0"/>
              <a:t>How did Bohr conceive of the goal of science?</a:t>
            </a:r>
          </a:p>
          <a:p>
            <a:pPr lvl="1"/>
            <a:r>
              <a:rPr lang="en-US" dirty="0"/>
              <a:t>Human centric</a:t>
            </a:r>
          </a:p>
          <a:p>
            <a:pPr lvl="1"/>
            <a:r>
              <a:rPr lang="en-US" dirty="0" err="1"/>
              <a:t>Høffding</a:t>
            </a:r>
            <a:r>
              <a:rPr lang="en-US" dirty="0"/>
              <a:t>, </a:t>
            </a:r>
            <a:r>
              <a:rPr lang="en-US" i="1" dirty="0" err="1"/>
              <a:t>Personlighedsprincippet</a:t>
            </a:r>
            <a:endParaRPr lang="en-US" i="1" dirty="0"/>
          </a:p>
          <a:p>
            <a:r>
              <a:rPr lang="en-US" dirty="0"/>
              <a:t>Einstein: “I want to know God’s thoughts”</a:t>
            </a:r>
          </a:p>
        </p:txBody>
      </p:sp>
    </p:spTree>
    <p:extLst>
      <p:ext uri="{BB962C8B-B14F-4D97-AF65-F5344CB8AC3E}">
        <p14:creationId xmlns:p14="http://schemas.microsoft.com/office/powerpoint/2010/main" val="646174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7DB84-1037-9ECB-8BD9-07BD6FCFCA7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7E91174-503B-C75C-710B-1A3331CCBE10}"/>
              </a:ext>
            </a:extLst>
          </p:cNvPr>
          <p:cNvSpPr>
            <a:spLocks noGrp="1"/>
          </p:cNvSpPr>
          <p:nvPr>
            <p:ph idx="1"/>
          </p:nvPr>
        </p:nvSpPr>
        <p:spPr/>
        <p:txBody>
          <a:bodyPr>
            <a:normAutofit/>
          </a:bodyPr>
          <a:lstStyle/>
          <a:p>
            <a:endParaRPr lang="en-US" dirty="0"/>
          </a:p>
          <a:p>
            <a:endParaRPr lang="en-US" dirty="0"/>
          </a:p>
          <a:p>
            <a:endParaRPr lang="en-US" dirty="0"/>
          </a:p>
          <a:p>
            <a:pPr marL="0" indent="0">
              <a:buNone/>
            </a:pPr>
            <a:endParaRPr lang="en-US" dirty="0">
              <a:solidFill>
                <a:srgbClr val="444444"/>
              </a:solidFill>
            </a:endParaRPr>
          </a:p>
          <a:p>
            <a:pPr marL="0" indent="0">
              <a:buNone/>
            </a:pPr>
            <a:endParaRPr lang="en-US" dirty="0"/>
          </a:p>
          <a:p>
            <a:pPr marL="0" indent="0">
              <a:buNone/>
            </a:pPr>
            <a:r>
              <a:rPr lang="en-US" dirty="0"/>
              <a:t>“N</a:t>
            </a:r>
            <a:r>
              <a:rPr lang="en-US" b="0" i="0" u="none" strike="noStrike" dirty="0">
                <a:effectLst/>
              </a:rPr>
              <a:t>o man who is called a philosopher really understands what one means by the complementary description. … they did not see that it was an objective description, and that it was the only possible objective description.”</a:t>
            </a:r>
            <a:endParaRPr lang="en-US" dirty="0"/>
          </a:p>
        </p:txBody>
      </p:sp>
      <p:sp>
        <p:nvSpPr>
          <p:cNvPr id="5" name="Rounded Rectangle 4">
            <a:extLst>
              <a:ext uri="{FF2B5EF4-FFF2-40B4-BE49-F238E27FC236}">
                <a16:creationId xmlns:a16="http://schemas.microsoft.com/office/drawing/2014/main" id="{46269657-4996-A6A1-4039-AE39020B0565}"/>
              </a:ext>
            </a:extLst>
          </p:cNvPr>
          <p:cNvSpPr/>
          <p:nvPr/>
        </p:nvSpPr>
        <p:spPr>
          <a:xfrm>
            <a:off x="3063539" y="568663"/>
            <a:ext cx="5613400" cy="32816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ounded Rectangle 3">
            <a:extLst>
              <a:ext uri="{FF2B5EF4-FFF2-40B4-BE49-F238E27FC236}">
                <a16:creationId xmlns:a16="http://schemas.microsoft.com/office/drawing/2014/main" id="{3B6A349F-9366-28C3-D0DD-CC1D91BF6A66}"/>
              </a:ext>
            </a:extLst>
          </p:cNvPr>
          <p:cNvSpPr/>
          <p:nvPr/>
        </p:nvSpPr>
        <p:spPr>
          <a:xfrm>
            <a:off x="5694680" y="1996440"/>
            <a:ext cx="2397760" cy="1432560"/>
          </a:xfrm>
          <a:prstGeom prst="roundRect">
            <a:avLst/>
          </a:prstGeom>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Complementarity</a:t>
            </a:r>
          </a:p>
        </p:txBody>
      </p:sp>
      <p:sp>
        <p:nvSpPr>
          <p:cNvPr id="7" name="TextBox 6">
            <a:extLst>
              <a:ext uri="{FF2B5EF4-FFF2-40B4-BE49-F238E27FC236}">
                <a16:creationId xmlns:a16="http://schemas.microsoft.com/office/drawing/2014/main" id="{89F5FA9D-E431-D265-F9AF-32F0EB68C136}"/>
              </a:ext>
            </a:extLst>
          </p:cNvPr>
          <p:cNvSpPr txBox="1"/>
          <p:nvPr/>
        </p:nvSpPr>
        <p:spPr>
          <a:xfrm>
            <a:off x="3754568" y="1342658"/>
            <a:ext cx="2115671" cy="830997"/>
          </a:xfrm>
          <a:prstGeom prst="rect">
            <a:avLst/>
          </a:prstGeom>
          <a:noFill/>
        </p:spPr>
        <p:txBody>
          <a:bodyPr wrap="square" rtlCol="0">
            <a:spAutoFit/>
          </a:bodyPr>
          <a:lstStyle/>
          <a:p>
            <a:r>
              <a:rPr lang="en-US" sz="2400" dirty="0">
                <a:solidFill>
                  <a:schemeClr val="bg1"/>
                </a:solidFill>
              </a:rPr>
              <a:t>Objectivity</a:t>
            </a:r>
          </a:p>
          <a:p>
            <a:r>
              <a:rPr lang="en-US" sz="2400" dirty="0" err="1">
                <a:solidFill>
                  <a:schemeClr val="bg1"/>
                </a:solidFill>
              </a:rPr>
              <a:t>Éntydighed</a:t>
            </a:r>
            <a:endParaRPr lang="en-US" sz="2400" dirty="0">
              <a:solidFill>
                <a:schemeClr val="bg1"/>
              </a:solidFill>
            </a:endParaRPr>
          </a:p>
        </p:txBody>
      </p:sp>
    </p:spTree>
    <p:extLst>
      <p:ext uri="{BB962C8B-B14F-4D97-AF65-F5344CB8AC3E}">
        <p14:creationId xmlns:p14="http://schemas.microsoft.com/office/powerpoint/2010/main" val="1263288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E0544-215F-7B1A-DD97-1B7D0D16F18B}"/>
              </a:ext>
            </a:extLst>
          </p:cNvPr>
          <p:cNvSpPr>
            <a:spLocks noGrp="1"/>
          </p:cNvSpPr>
          <p:nvPr>
            <p:ph type="title"/>
          </p:nvPr>
        </p:nvSpPr>
        <p:spPr/>
        <p:txBody>
          <a:bodyPr/>
          <a:lstStyle/>
          <a:p>
            <a:r>
              <a:rPr lang="en-US" dirty="0"/>
              <a:t>Complementarity as a generalization of Einstein’s relativity</a:t>
            </a:r>
          </a:p>
        </p:txBody>
      </p:sp>
      <p:sp>
        <p:nvSpPr>
          <p:cNvPr id="3" name="Content Placeholder 2">
            <a:extLst>
              <a:ext uri="{FF2B5EF4-FFF2-40B4-BE49-F238E27FC236}">
                <a16:creationId xmlns:a16="http://schemas.microsoft.com/office/drawing/2014/main" id="{47E0D2B9-DE81-374A-8EC3-D48714913A60}"/>
              </a:ext>
            </a:extLst>
          </p:cNvPr>
          <p:cNvSpPr>
            <a:spLocks noGrp="1"/>
          </p:cNvSpPr>
          <p:nvPr>
            <p:ph idx="1"/>
          </p:nvPr>
        </p:nvSpPr>
        <p:spPr/>
        <p:txBody>
          <a:bodyPr/>
          <a:lstStyle/>
          <a:p>
            <a:pPr marL="0" indent="0">
              <a:buNone/>
            </a:pPr>
            <a:endParaRPr lang="en-US" dirty="0"/>
          </a:p>
          <a:p>
            <a:pPr marL="0" indent="0">
              <a:buNone/>
            </a:pPr>
            <a:r>
              <a:rPr lang="en-US" dirty="0"/>
              <a:t>“… the principle of relativity has thus essentially extended the frame and scope for objective description of physical phenomena.”</a:t>
            </a:r>
          </a:p>
          <a:p>
            <a:pPr marL="0" indent="0">
              <a:buNone/>
            </a:pPr>
            <a:endParaRPr lang="en-US" dirty="0"/>
          </a:p>
          <a:p>
            <a:pPr marL="0" indent="0">
              <a:buNone/>
            </a:pPr>
            <a:r>
              <a:rPr lang="en-US" dirty="0"/>
              <a:t>“In pointing directly to our position as regards objective description of experience, the notion of complementarity exhibits a certain resemblance with the principle of relativity.</a:t>
            </a:r>
          </a:p>
          <a:p>
            <a:pPr marL="0" indent="0">
              <a:buNone/>
            </a:pPr>
            <a:r>
              <a:rPr lang="en-US" dirty="0"/>
              <a:t>…the lesson of physical science reminds us of our position as regards objective description in many other fields of knowledge.”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79859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318E0-B9FD-0B84-3058-AAD6F0D660A9}"/>
              </a:ext>
            </a:extLst>
          </p:cNvPr>
          <p:cNvSpPr>
            <a:spLocks noGrp="1"/>
          </p:cNvSpPr>
          <p:nvPr>
            <p:ph type="title"/>
          </p:nvPr>
        </p:nvSpPr>
        <p:spPr/>
        <p:txBody>
          <a:bodyPr/>
          <a:lstStyle/>
          <a:p>
            <a:r>
              <a:rPr lang="en-US" dirty="0"/>
              <a:t>Complementarity as a generalization of Einstein’s relativity</a:t>
            </a:r>
          </a:p>
        </p:txBody>
      </p:sp>
      <p:sp>
        <p:nvSpPr>
          <p:cNvPr id="3" name="Content Placeholder 2">
            <a:extLst>
              <a:ext uri="{FF2B5EF4-FFF2-40B4-BE49-F238E27FC236}">
                <a16:creationId xmlns:a16="http://schemas.microsoft.com/office/drawing/2014/main" id="{6001155D-A48E-0387-B257-81AE4C01689A}"/>
              </a:ext>
            </a:extLst>
          </p:cNvPr>
          <p:cNvSpPr>
            <a:spLocks noGrp="1"/>
          </p:cNvSpPr>
          <p:nvPr>
            <p:ph idx="1"/>
          </p:nvPr>
        </p:nvSpPr>
        <p:spPr/>
        <p:txBody>
          <a:bodyPr/>
          <a:lstStyle/>
          <a:p>
            <a:pPr marL="0" indent="0">
              <a:buNone/>
            </a:pPr>
            <a:r>
              <a:rPr lang="en-US" dirty="0"/>
              <a:t>“Before concluding I should still like to emphasize the bearing of the great lesson derived from general relativity theory upon the question of physical reality in the field of quantum theory. In fact, notwithstanding all characteristic differences, the situations we are concerned with in these generalizations of classical theory present striking analogies which have often been noted.”</a:t>
            </a:r>
          </a:p>
        </p:txBody>
      </p:sp>
    </p:spTree>
    <p:extLst>
      <p:ext uri="{BB962C8B-B14F-4D97-AF65-F5344CB8AC3E}">
        <p14:creationId xmlns:p14="http://schemas.microsoft.com/office/powerpoint/2010/main" val="3547586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934FC-C224-0896-5E2E-71BB16A54B50}"/>
              </a:ext>
            </a:extLst>
          </p:cNvPr>
          <p:cNvSpPr>
            <a:spLocks noGrp="1"/>
          </p:cNvSpPr>
          <p:nvPr>
            <p:ph type="title"/>
          </p:nvPr>
        </p:nvSpPr>
        <p:spPr/>
        <p:txBody>
          <a:bodyPr/>
          <a:lstStyle/>
          <a:p>
            <a:r>
              <a:rPr lang="en-US" dirty="0"/>
              <a:t>Objectivity</a:t>
            </a:r>
          </a:p>
        </p:txBody>
      </p:sp>
      <p:sp>
        <p:nvSpPr>
          <p:cNvPr id="3" name="Content Placeholder 2">
            <a:extLst>
              <a:ext uri="{FF2B5EF4-FFF2-40B4-BE49-F238E27FC236}">
                <a16:creationId xmlns:a16="http://schemas.microsoft.com/office/drawing/2014/main" id="{0EFEB1D4-2396-F5B0-D8FA-9EEA1A26EEC7}"/>
              </a:ext>
            </a:extLst>
          </p:cNvPr>
          <p:cNvSpPr>
            <a:spLocks noGrp="1"/>
          </p:cNvSpPr>
          <p:nvPr>
            <p:ph idx="1"/>
          </p:nvPr>
        </p:nvSpPr>
        <p:spPr/>
        <p:txBody>
          <a:bodyPr>
            <a:normAutofit/>
          </a:bodyPr>
          <a:lstStyle/>
          <a:p>
            <a:pPr marL="0" indent="0">
              <a:lnSpc>
                <a:spcPct val="100000"/>
              </a:lnSpc>
              <a:buNone/>
            </a:pPr>
            <a:r>
              <a:rPr lang="en-US" dirty="0">
                <a:solidFill>
                  <a:srgbClr val="000000"/>
                </a:solidFill>
                <a:effectLst/>
              </a:rPr>
              <a:t>Objectivity = </a:t>
            </a:r>
            <a:r>
              <a:rPr lang="en-US" dirty="0" err="1">
                <a:solidFill>
                  <a:srgbClr val="000000"/>
                </a:solidFill>
                <a:effectLst/>
              </a:rPr>
              <a:t>Éntydighed</a:t>
            </a:r>
            <a:endParaRPr lang="en-US" dirty="0">
              <a:solidFill>
                <a:srgbClr val="000000"/>
              </a:solidFill>
              <a:effectLst/>
            </a:endParaRPr>
          </a:p>
          <a:p>
            <a:pPr marL="0" indent="0">
              <a:lnSpc>
                <a:spcPct val="100000"/>
              </a:lnSpc>
              <a:buNone/>
            </a:pPr>
            <a:r>
              <a:rPr lang="en-US" dirty="0">
                <a:solidFill>
                  <a:srgbClr val="000000"/>
                </a:solidFill>
              </a:rPr>
              <a:t>Ambiguity = </a:t>
            </a:r>
            <a:r>
              <a:rPr lang="en-US" dirty="0" err="1">
                <a:solidFill>
                  <a:srgbClr val="000000"/>
                </a:solidFill>
              </a:rPr>
              <a:t>Tvetydighed</a:t>
            </a:r>
            <a:endParaRPr lang="en-US" dirty="0">
              <a:solidFill>
                <a:srgbClr val="000000"/>
              </a:solidFill>
            </a:endParaRPr>
          </a:p>
          <a:p>
            <a:pPr marL="0" indent="0">
              <a:lnSpc>
                <a:spcPct val="100000"/>
              </a:lnSpc>
              <a:buNone/>
            </a:pPr>
            <a:r>
              <a:rPr lang="en-US" dirty="0">
                <a:solidFill>
                  <a:srgbClr val="000000"/>
                </a:solidFill>
                <a:effectLst/>
              </a:rPr>
              <a:t>“By the lesson regarding our position as observers of nature, which the development of physical science in the present century has given us, a new background has, however, been created just for the use of such words as objectivity and subjectivity. From a logical standpoint, we can by an objective description only understand a communication of experience to others by means of a language which does not admit </a:t>
            </a:r>
            <a:r>
              <a:rPr lang="en-US" u="sng" dirty="0">
                <a:solidFill>
                  <a:srgbClr val="000000"/>
                </a:solidFill>
                <a:effectLst/>
              </a:rPr>
              <a:t>ambiguity</a:t>
            </a:r>
            <a:r>
              <a:rPr lang="en-US" dirty="0">
                <a:solidFill>
                  <a:srgbClr val="000000"/>
                </a:solidFill>
                <a:effectLst/>
              </a:rPr>
              <a:t> as regards the perception of such communications.”</a:t>
            </a:r>
          </a:p>
        </p:txBody>
      </p:sp>
    </p:spTree>
    <p:extLst>
      <p:ext uri="{BB962C8B-B14F-4D97-AF65-F5344CB8AC3E}">
        <p14:creationId xmlns:p14="http://schemas.microsoft.com/office/powerpoint/2010/main" val="1437768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CB151-6B92-EB74-AD50-5505BEE6B101}"/>
              </a:ext>
            </a:extLst>
          </p:cNvPr>
          <p:cNvSpPr>
            <a:spLocks noGrp="1"/>
          </p:cNvSpPr>
          <p:nvPr>
            <p:ph type="title"/>
          </p:nvPr>
        </p:nvSpPr>
        <p:spPr/>
        <p:txBody>
          <a:bodyPr/>
          <a:lstStyle/>
          <a:p>
            <a:r>
              <a:rPr lang="en-US" dirty="0"/>
              <a:t>Subject and object</a:t>
            </a:r>
          </a:p>
        </p:txBody>
      </p:sp>
      <p:sp>
        <p:nvSpPr>
          <p:cNvPr id="3" name="Content Placeholder 2">
            <a:extLst>
              <a:ext uri="{FF2B5EF4-FFF2-40B4-BE49-F238E27FC236}">
                <a16:creationId xmlns:a16="http://schemas.microsoft.com/office/drawing/2014/main" id="{67AAA2A7-9B08-A7FB-A7C0-5FD22EBAACE7}"/>
              </a:ext>
            </a:extLst>
          </p:cNvPr>
          <p:cNvSpPr>
            <a:spLocks noGrp="1"/>
          </p:cNvSpPr>
          <p:nvPr>
            <p:ph idx="1"/>
          </p:nvPr>
        </p:nvSpPr>
        <p:spPr>
          <a:xfrm>
            <a:off x="838200" y="1398494"/>
            <a:ext cx="10515600" cy="4778469"/>
          </a:xfrm>
        </p:spPr>
        <p:txBody>
          <a:bodyPr/>
          <a:lstStyle/>
          <a:p>
            <a:pPr marL="0" indent="0">
              <a:buNone/>
            </a:pPr>
            <a:r>
              <a:rPr lang="da-DK" dirty="0"/>
              <a:t>”Viljesfølelse og årsagskrav er lige uundværlige elementer i </a:t>
            </a:r>
            <a:r>
              <a:rPr lang="da-DK" u="sng" dirty="0"/>
              <a:t>forholdet mellem subjekt og objekt</a:t>
            </a:r>
            <a:r>
              <a:rPr lang="da-DK" dirty="0"/>
              <a:t>, som er erkendelsesproblemets kerne.”</a:t>
            </a:r>
          </a:p>
        </p:txBody>
      </p:sp>
      <p:pic>
        <p:nvPicPr>
          <p:cNvPr id="5" name="Picture 4" descr="A close-up of a person&#10;&#10;Description automatically generated">
            <a:extLst>
              <a:ext uri="{FF2B5EF4-FFF2-40B4-BE49-F238E27FC236}">
                <a16:creationId xmlns:a16="http://schemas.microsoft.com/office/drawing/2014/main" id="{6E294562-75A6-6CA9-4B77-782B45170120}"/>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flipH="1">
            <a:off x="966984" y="3341845"/>
            <a:ext cx="1675771" cy="1682529"/>
          </a:xfrm>
          <a:prstGeom prst="rect">
            <a:avLst/>
          </a:prstGeom>
        </p:spPr>
      </p:pic>
      <p:pic>
        <p:nvPicPr>
          <p:cNvPr id="8" name="Picture 7" descr="A drawing of a person&#10;&#10;Description automatically generated">
            <a:extLst>
              <a:ext uri="{FF2B5EF4-FFF2-40B4-BE49-F238E27FC236}">
                <a16:creationId xmlns:a16="http://schemas.microsoft.com/office/drawing/2014/main" id="{77CC20C8-8ADF-A5EB-3974-A0AACCCF48EE}"/>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4107169" y="4810346"/>
            <a:ext cx="1134728" cy="1682529"/>
          </a:xfrm>
          <a:prstGeom prst="rect">
            <a:avLst/>
          </a:prstGeom>
        </p:spPr>
      </p:pic>
      <p:pic>
        <p:nvPicPr>
          <p:cNvPr id="11" name="Picture 10" descr="A person in a suit&#10;&#10;Description automatically generated">
            <a:extLst>
              <a:ext uri="{FF2B5EF4-FFF2-40B4-BE49-F238E27FC236}">
                <a16:creationId xmlns:a16="http://schemas.microsoft.com/office/drawing/2014/main" id="{BB1F3325-6F88-3486-A0B5-7A261C55320F}"/>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6950104" y="3191262"/>
            <a:ext cx="1182172" cy="1936376"/>
          </a:xfrm>
          <a:prstGeom prst="rect">
            <a:avLst/>
          </a:prstGeom>
        </p:spPr>
      </p:pic>
      <p:pic>
        <p:nvPicPr>
          <p:cNvPr id="13" name="Picture 12" descr="A person in a suit and bow tie&#10;&#10;Description automatically generated">
            <a:extLst>
              <a:ext uri="{FF2B5EF4-FFF2-40B4-BE49-F238E27FC236}">
                <a16:creationId xmlns:a16="http://schemas.microsoft.com/office/drawing/2014/main" id="{14A9F898-79EF-78AA-FC98-E7803E10AB13}"/>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9558418" y="3294527"/>
            <a:ext cx="1272906" cy="1729847"/>
          </a:xfrm>
          <a:prstGeom prst="rect">
            <a:avLst/>
          </a:prstGeom>
        </p:spPr>
      </p:pic>
      <p:pic>
        <p:nvPicPr>
          <p:cNvPr id="15" name="Picture 14" descr="A drawing of a person sitting in a chair&#10;&#10;Description automatically generated">
            <a:extLst>
              <a:ext uri="{FF2B5EF4-FFF2-40B4-BE49-F238E27FC236}">
                <a16:creationId xmlns:a16="http://schemas.microsoft.com/office/drawing/2014/main" id="{2528B097-E740-EE03-8268-DD186BE43008}"/>
              </a:ext>
            </a:extLst>
          </p:cNvPr>
          <p:cNvPicPr>
            <a:picLocks noChangeAspect="1"/>
          </p:cNvPicPr>
          <p:nvPr/>
        </p:nvPicPr>
        <p:blipFill>
          <a:blip r:embed="rId10">
            <a:extLst>
              <a:ext uri="{837473B0-CC2E-450A-ABE3-18F120FF3D39}">
                <a1611:picAttrSrcUrl xmlns:a1611="http://schemas.microsoft.com/office/drawing/2016/11/main" r:id="rId11"/>
              </a:ext>
            </a:extLst>
          </a:blip>
          <a:stretch>
            <a:fillRect/>
          </a:stretch>
        </p:blipFill>
        <p:spPr>
          <a:xfrm>
            <a:off x="3728580" y="2611268"/>
            <a:ext cx="1968467" cy="1883166"/>
          </a:xfrm>
          <a:prstGeom prst="rect">
            <a:avLst/>
          </a:prstGeom>
        </p:spPr>
      </p:pic>
    </p:spTree>
    <p:extLst>
      <p:ext uri="{BB962C8B-B14F-4D97-AF65-F5344CB8AC3E}">
        <p14:creationId xmlns:p14="http://schemas.microsoft.com/office/powerpoint/2010/main" val="3006582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A315B-045F-2575-B03C-2E8C7F8621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63EB39-3752-DB01-49C0-035D57CAC07A}"/>
              </a:ext>
            </a:extLst>
          </p:cNvPr>
          <p:cNvSpPr>
            <a:spLocks noGrp="1"/>
          </p:cNvSpPr>
          <p:nvPr>
            <p:ph idx="1"/>
          </p:nvPr>
        </p:nvSpPr>
        <p:spPr/>
        <p:txBody>
          <a:bodyPr/>
          <a:lstStyle/>
          <a:p>
            <a:pPr marL="0" indent="0">
              <a:buNone/>
            </a:pPr>
            <a:r>
              <a:rPr lang="da-DK" dirty="0">
                <a:solidFill>
                  <a:srgbClr val="000000"/>
                </a:solidFill>
                <a:effectLst/>
              </a:rPr>
              <a:t>”Enhver </a:t>
            </a:r>
            <a:r>
              <a:rPr lang="da-DK" u="sng" dirty="0">
                <a:solidFill>
                  <a:srgbClr val="000000"/>
                </a:solidFill>
                <a:effectLst/>
              </a:rPr>
              <a:t>entydig meddelelse</a:t>
            </a:r>
            <a:r>
              <a:rPr lang="da-DK" dirty="0">
                <a:solidFill>
                  <a:srgbClr val="000000"/>
                </a:solidFill>
                <a:effectLst/>
              </a:rPr>
              <a:t> om vor sindstilstand indebærer naturligvis en </a:t>
            </a:r>
            <a:r>
              <a:rPr lang="da-DK" u="sng" dirty="0">
                <a:solidFill>
                  <a:srgbClr val="000000"/>
                </a:solidFill>
                <a:effectLst/>
              </a:rPr>
              <a:t>skelnen</a:t>
            </a:r>
            <a:r>
              <a:rPr lang="da-DK" dirty="0">
                <a:solidFill>
                  <a:srgbClr val="000000"/>
                </a:solidFill>
                <a:effectLst/>
              </a:rPr>
              <a:t> mellem indholdet af vor bevidsthed og den baggrund, som vi løst henviser til som ‘os selv’. Men ethvert forsøg på udtømmende at beskrive det bevidste livs rigdom forlanger i de varierende situationer en forskellig placering af skillelinjen mellem subjekt og objekt.”</a:t>
            </a:r>
          </a:p>
          <a:p>
            <a:endParaRPr lang="en-US" dirty="0"/>
          </a:p>
        </p:txBody>
      </p:sp>
    </p:spTree>
    <p:extLst>
      <p:ext uri="{BB962C8B-B14F-4D97-AF65-F5344CB8AC3E}">
        <p14:creationId xmlns:p14="http://schemas.microsoft.com/office/powerpoint/2010/main" val="2691932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E1F18-CAEC-B225-D6FA-FDC9E7FF6F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D7F814-BD6D-A9BA-1F71-80A42C85848B}"/>
              </a:ext>
            </a:extLst>
          </p:cNvPr>
          <p:cNvSpPr>
            <a:spLocks noGrp="1"/>
          </p:cNvSpPr>
          <p:nvPr>
            <p:ph idx="1"/>
          </p:nvPr>
        </p:nvSpPr>
        <p:spPr/>
        <p:txBody>
          <a:bodyPr/>
          <a:lstStyle/>
          <a:p>
            <a:pPr marL="0" indent="0">
              <a:lnSpc>
                <a:spcPct val="100000"/>
              </a:lnSpc>
              <a:buNone/>
            </a:pPr>
            <a:r>
              <a:rPr lang="da-DK" dirty="0"/>
              <a:t>“Det er imidlertid indlysende, at enhver søgen efter et sidste subjekt er i strid med </a:t>
            </a:r>
            <a:r>
              <a:rPr lang="da-DK" u="sng" dirty="0"/>
              <a:t>objektiv beskrivelse</a:t>
            </a:r>
            <a:r>
              <a:rPr lang="da-DK" dirty="0"/>
              <a:t>s væsen, der jo forlanger en modstilling af subjekt og objekt.”</a:t>
            </a:r>
          </a:p>
        </p:txBody>
      </p:sp>
    </p:spTree>
    <p:extLst>
      <p:ext uri="{BB962C8B-B14F-4D97-AF65-F5344CB8AC3E}">
        <p14:creationId xmlns:p14="http://schemas.microsoft.com/office/powerpoint/2010/main" val="2131595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AC311-A6FE-D746-C556-0F7DD89BE041}"/>
              </a:ext>
            </a:extLst>
          </p:cNvPr>
          <p:cNvSpPr>
            <a:spLocks noGrp="1"/>
          </p:cNvSpPr>
          <p:nvPr>
            <p:ph type="title"/>
          </p:nvPr>
        </p:nvSpPr>
        <p:spPr/>
        <p:txBody>
          <a:bodyPr/>
          <a:lstStyle/>
          <a:p>
            <a:r>
              <a:rPr lang="en-US" dirty="0"/>
              <a:t>New research strategies</a:t>
            </a:r>
          </a:p>
        </p:txBody>
      </p:sp>
      <p:sp>
        <p:nvSpPr>
          <p:cNvPr id="3" name="Content Placeholder 2">
            <a:extLst>
              <a:ext uri="{FF2B5EF4-FFF2-40B4-BE49-F238E27FC236}">
                <a16:creationId xmlns:a16="http://schemas.microsoft.com/office/drawing/2014/main" id="{F4BC30E7-8224-2B1B-3448-332CF31B7A51}"/>
              </a:ext>
            </a:extLst>
          </p:cNvPr>
          <p:cNvSpPr>
            <a:spLocks noGrp="1"/>
          </p:cNvSpPr>
          <p:nvPr>
            <p:ph idx="1"/>
          </p:nvPr>
        </p:nvSpPr>
        <p:spPr/>
        <p:txBody>
          <a:bodyPr>
            <a:normAutofit/>
          </a:bodyPr>
          <a:lstStyle/>
          <a:p>
            <a:r>
              <a:rPr lang="en-US" dirty="0"/>
              <a:t>Bohr in context</a:t>
            </a:r>
          </a:p>
          <a:p>
            <a:pPr lvl="1"/>
            <a:r>
              <a:rPr lang="en-US" dirty="0"/>
              <a:t>19</a:t>
            </a:r>
            <a:r>
              <a:rPr lang="en-US" baseline="30000" dirty="0"/>
              <a:t>th</a:t>
            </a:r>
            <a:r>
              <a:rPr lang="en-US" dirty="0"/>
              <a:t> century Danish and German philosophy</a:t>
            </a:r>
          </a:p>
          <a:p>
            <a:pPr lvl="2"/>
            <a:r>
              <a:rPr lang="en-US" dirty="0"/>
              <a:t>E.g. </a:t>
            </a:r>
            <a:r>
              <a:rPr lang="en-US" dirty="0" err="1"/>
              <a:t>Høffding’s</a:t>
            </a:r>
            <a:r>
              <a:rPr lang="en-US" dirty="0"/>
              <a:t> notes from Nielsen’s </a:t>
            </a:r>
            <a:r>
              <a:rPr lang="en-US" dirty="0" err="1"/>
              <a:t>Filosofikum</a:t>
            </a:r>
            <a:endParaRPr lang="en-US" dirty="0"/>
          </a:p>
          <a:p>
            <a:pPr lvl="1"/>
            <a:r>
              <a:rPr lang="en-US" dirty="0"/>
              <a:t>Language</a:t>
            </a:r>
          </a:p>
          <a:p>
            <a:pPr lvl="2"/>
            <a:r>
              <a:rPr lang="en-US" dirty="0"/>
              <a:t>Niels Bohr as language engineer</a:t>
            </a:r>
          </a:p>
          <a:p>
            <a:pPr lvl="2"/>
            <a:r>
              <a:rPr lang="en-US" dirty="0"/>
              <a:t>Fruitfulness of Danish word search (</a:t>
            </a:r>
            <a:r>
              <a:rPr lang="en-US" dirty="0" err="1"/>
              <a:t>éntydig</a:t>
            </a:r>
            <a:r>
              <a:rPr lang="en-US" dirty="0"/>
              <a:t>, </a:t>
            </a:r>
            <a:r>
              <a:rPr lang="en-US" dirty="0" err="1"/>
              <a:t>skillelinje</a:t>
            </a:r>
            <a:r>
              <a:rPr lang="en-US" dirty="0"/>
              <a:t>, at </a:t>
            </a:r>
            <a:r>
              <a:rPr lang="en-US" dirty="0" err="1"/>
              <a:t>bestemme</a:t>
            </a:r>
            <a:r>
              <a:rPr lang="en-US" dirty="0"/>
              <a:t>, </a:t>
            </a:r>
            <a:r>
              <a:rPr lang="en-US" dirty="0" err="1"/>
              <a:t>osv</a:t>
            </a:r>
            <a:r>
              <a:rPr lang="en-US" dirty="0"/>
              <a:t>.)</a:t>
            </a:r>
          </a:p>
          <a:p>
            <a:pPr lvl="1"/>
            <a:r>
              <a:rPr lang="en-US" dirty="0"/>
              <a:t>Extended intellectual circles</a:t>
            </a:r>
          </a:p>
          <a:p>
            <a:pPr lvl="2"/>
            <a:r>
              <a:rPr lang="en-US" dirty="0"/>
              <a:t>Anton Thomsen, Edgar Rubin, </a:t>
            </a:r>
            <a:r>
              <a:rPr lang="en-US" dirty="0" err="1"/>
              <a:t>Brandes</a:t>
            </a:r>
            <a:r>
              <a:rPr lang="en-US" dirty="0"/>
              <a:t> brothers</a:t>
            </a:r>
          </a:p>
          <a:p>
            <a:pPr lvl="1"/>
            <a:r>
              <a:rPr lang="en-US" dirty="0"/>
              <a:t>Friends and family</a:t>
            </a:r>
          </a:p>
          <a:p>
            <a:pPr lvl="2"/>
            <a:r>
              <a:rPr lang="en-US" dirty="0"/>
              <a:t>E.g. letters between Christian Bohr and friends</a:t>
            </a:r>
          </a:p>
          <a:p>
            <a:pPr marL="457200" lvl="1" indent="0">
              <a:buNone/>
            </a:pPr>
            <a:endParaRPr lang="en-US" dirty="0"/>
          </a:p>
        </p:txBody>
      </p:sp>
    </p:spTree>
    <p:extLst>
      <p:ext uri="{BB962C8B-B14F-4D97-AF65-F5344CB8AC3E}">
        <p14:creationId xmlns:p14="http://schemas.microsoft.com/office/powerpoint/2010/main" val="2870450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AC311-A6FE-D746-C556-0F7DD89BE041}"/>
              </a:ext>
            </a:extLst>
          </p:cNvPr>
          <p:cNvSpPr>
            <a:spLocks noGrp="1"/>
          </p:cNvSpPr>
          <p:nvPr>
            <p:ph type="title"/>
          </p:nvPr>
        </p:nvSpPr>
        <p:spPr/>
        <p:txBody>
          <a:bodyPr/>
          <a:lstStyle/>
          <a:p>
            <a:r>
              <a:rPr lang="en-US" dirty="0"/>
              <a:t>New research strategies</a:t>
            </a:r>
          </a:p>
        </p:txBody>
      </p:sp>
      <p:sp>
        <p:nvSpPr>
          <p:cNvPr id="3" name="Content Placeholder 2">
            <a:extLst>
              <a:ext uri="{FF2B5EF4-FFF2-40B4-BE49-F238E27FC236}">
                <a16:creationId xmlns:a16="http://schemas.microsoft.com/office/drawing/2014/main" id="{F4BC30E7-8224-2B1B-3448-332CF31B7A51}"/>
              </a:ext>
            </a:extLst>
          </p:cNvPr>
          <p:cNvSpPr>
            <a:spLocks noGrp="1"/>
          </p:cNvSpPr>
          <p:nvPr>
            <p:ph idx="1"/>
          </p:nvPr>
        </p:nvSpPr>
        <p:spPr/>
        <p:txBody>
          <a:bodyPr>
            <a:normAutofit/>
          </a:bodyPr>
          <a:lstStyle/>
          <a:p>
            <a:r>
              <a:rPr lang="en-US" dirty="0"/>
              <a:t>Postwar physics and the backlash against Bohr</a:t>
            </a:r>
          </a:p>
          <a:p>
            <a:pPr lvl="1"/>
            <a:r>
              <a:rPr lang="en-US" dirty="0"/>
              <a:t>Princeton connection?</a:t>
            </a:r>
          </a:p>
          <a:p>
            <a:r>
              <a:rPr lang="en-US" dirty="0"/>
              <a:t>Logic and analytic philosophy</a:t>
            </a:r>
          </a:p>
          <a:p>
            <a:pPr lvl="1"/>
            <a:r>
              <a:rPr lang="en-US" dirty="0"/>
              <a:t>Theory of theories</a:t>
            </a:r>
          </a:p>
          <a:p>
            <a:pPr lvl="1"/>
            <a:r>
              <a:rPr lang="en-US" dirty="0"/>
              <a:t>Communication and context</a:t>
            </a:r>
          </a:p>
          <a:p>
            <a:r>
              <a:rPr lang="en-US" dirty="0"/>
              <a:t>Don’t lose touch with contemporary physics or physicists</a:t>
            </a:r>
          </a:p>
          <a:p>
            <a:r>
              <a:rPr lang="en-US" dirty="0"/>
              <a:t>Quantum dialogues [the correspondence]</a:t>
            </a:r>
          </a:p>
        </p:txBody>
      </p:sp>
    </p:spTree>
    <p:extLst>
      <p:ext uri="{BB962C8B-B14F-4D97-AF65-F5344CB8AC3E}">
        <p14:creationId xmlns:p14="http://schemas.microsoft.com/office/powerpoint/2010/main" val="1800964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353A0-29A9-E138-EB22-ECDAE4E14109}"/>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C24C5E54-E378-8979-E3E9-CFED0B9941A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89241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797FC-6CC3-D2C8-48D1-2C3A402221EC}"/>
              </a:ext>
            </a:extLst>
          </p:cNvPr>
          <p:cNvSpPr>
            <a:spLocks noGrp="1"/>
          </p:cNvSpPr>
          <p:nvPr>
            <p:ph type="title"/>
          </p:nvPr>
        </p:nvSpPr>
        <p:spPr/>
        <p:txBody>
          <a:bodyPr/>
          <a:lstStyle/>
          <a:p>
            <a:r>
              <a:rPr lang="en-US" dirty="0"/>
              <a:t>Mechanism and teleology</a:t>
            </a:r>
          </a:p>
        </p:txBody>
      </p:sp>
      <p:sp>
        <p:nvSpPr>
          <p:cNvPr id="3" name="Content Placeholder 2">
            <a:extLst>
              <a:ext uri="{FF2B5EF4-FFF2-40B4-BE49-F238E27FC236}">
                <a16:creationId xmlns:a16="http://schemas.microsoft.com/office/drawing/2014/main" id="{4B9C4155-F6D1-0B14-E1A6-273A953E0C9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92148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823F3-CC2F-D0D8-B241-3CABB11813E6}"/>
              </a:ext>
            </a:extLst>
          </p:cNvPr>
          <p:cNvSpPr>
            <a:spLocks noGrp="1"/>
          </p:cNvSpPr>
          <p:nvPr>
            <p:ph type="title"/>
          </p:nvPr>
        </p:nvSpPr>
        <p:spPr/>
        <p:txBody>
          <a:bodyPr/>
          <a:lstStyle/>
          <a:p>
            <a:r>
              <a:rPr lang="en-US" dirty="0"/>
              <a:t>Reference frames</a:t>
            </a:r>
          </a:p>
        </p:txBody>
      </p:sp>
      <p:sp>
        <p:nvSpPr>
          <p:cNvPr id="3" name="Content Placeholder 2">
            <a:extLst>
              <a:ext uri="{FF2B5EF4-FFF2-40B4-BE49-F238E27FC236}">
                <a16:creationId xmlns:a16="http://schemas.microsoft.com/office/drawing/2014/main" id="{204F2FB8-DD27-0A69-C9D7-20DCD1B4CAC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83016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9AC99-8441-6719-BF4B-896B9921A578}"/>
              </a:ext>
            </a:extLst>
          </p:cNvPr>
          <p:cNvSpPr>
            <a:spLocks noGrp="1"/>
          </p:cNvSpPr>
          <p:nvPr>
            <p:ph type="title"/>
          </p:nvPr>
        </p:nvSpPr>
        <p:spPr/>
        <p:txBody>
          <a:bodyPr/>
          <a:lstStyle/>
          <a:p>
            <a:r>
              <a:rPr lang="en-US" dirty="0"/>
              <a:t>Causality</a:t>
            </a:r>
          </a:p>
        </p:txBody>
      </p:sp>
      <p:sp>
        <p:nvSpPr>
          <p:cNvPr id="3" name="Content Placeholder 2">
            <a:extLst>
              <a:ext uri="{FF2B5EF4-FFF2-40B4-BE49-F238E27FC236}">
                <a16:creationId xmlns:a16="http://schemas.microsoft.com/office/drawing/2014/main" id="{0D2CB3E3-DF70-4380-37A0-2E2AA6B8C23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70428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1804</TotalTime>
  <Words>736</Words>
  <Application>Microsoft Macintosh PowerPoint</Application>
  <PresentationFormat>Widescreen</PresentationFormat>
  <Paragraphs>72</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Niels Bohr’s Livsanskuelse</vt:lpstr>
      <vt:lpstr>Defensive</vt:lpstr>
      <vt:lpstr>Defensive</vt:lpstr>
      <vt:lpstr>Offensive</vt:lpstr>
      <vt:lpstr>Wanted: A worldview adequate to life in science</vt:lpstr>
      <vt:lpstr>What made Bohr tick (as a scientist)?</vt:lpstr>
      <vt:lpstr>PowerPoint Presentation</vt:lpstr>
      <vt:lpstr>Complementarity as a generalization of Einstein’s relativity</vt:lpstr>
      <vt:lpstr>Complementarity as a generalization of Einstein’s relativity</vt:lpstr>
      <vt:lpstr>Objectivity</vt:lpstr>
      <vt:lpstr>Subject and object</vt:lpstr>
      <vt:lpstr>PowerPoint Presentation</vt:lpstr>
      <vt:lpstr>PowerPoint Presentation</vt:lpstr>
      <vt:lpstr>New research strategies</vt:lpstr>
      <vt:lpstr>New research strategies</vt:lpstr>
      <vt:lpstr>Definition</vt:lpstr>
      <vt:lpstr>Mechanism and teleology</vt:lpstr>
      <vt:lpstr>Reference frames</vt:lpstr>
      <vt:lpstr>Causality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Niels Bohr the Person/Philosopher</dc:title>
  <dc:creator>Hans P. Halvorson</dc:creator>
  <cp:lastModifiedBy>Hans P. Halvorson</cp:lastModifiedBy>
  <cp:revision>5</cp:revision>
  <dcterms:created xsi:type="dcterms:W3CDTF">2023-08-08T07:32:52Z</dcterms:created>
  <dcterms:modified xsi:type="dcterms:W3CDTF">2023-08-09T13:37:10Z</dcterms:modified>
</cp:coreProperties>
</file>